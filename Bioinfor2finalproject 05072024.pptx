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TYcGjygkU/GrBPEkTFbTrPZ9Y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CB405C-9B28-49B0-ACC2-002ACD1C6292}">
  <a:tblStyle styleId="{70CB405C-9B28-49B0-ACC2-002ACD1C6292}" styleName="Table_0">
    <a:wholeTbl>
      <a:tcTxStyle b="off" i="off">
        <a:font>
          <a:latin typeface="等线"/>
          <a:ea typeface="等线"/>
          <a:cs typeface="等线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6EFF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FF7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等线"/>
          <a:ea typeface="等线"/>
          <a:cs typeface="等线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Hi, everyone, this is Jinhui Li,....., Today we will introduce a software…..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report contain three parts.</a:t>
            </a:r>
            <a:endParaRPr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There are some questions, first,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Since the HGP, many sequencing techniques has been developed, such as NGS based on bridge PCR or circle PCR.</a:t>
            </a:r>
            <a:br>
              <a:rPr lang="en-US"/>
            </a:br>
            <a:r>
              <a:rPr lang="en-US"/>
              <a:t>recently, many species has been sequenced, at the same time, multi-omics techniques were brought to vision. therefore，scientist have to look for engineers who can use code to analyze and visualize their data.</a:t>
            </a:r>
            <a:endParaRPr/>
          </a:p>
        </p:txBody>
      </p:sp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MicrobioSee originate from Microbiology and See.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This is the main files and folders in MicrobioSee2.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9de3aee6b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2d9de3aee6b_1_8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2d9de3aee6b_1_8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9de3aee6b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2d9de3aee6b_1_18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2d9de3aee6b_1_18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d9de3aee6b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2d9de3aee6b_1_28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2d9de3aee6b_1_28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9de3aee6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2d9de3aee6b_2_0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2d9de3aee6b_2_0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9de3aee6b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2d9de3aee6b_2_8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2d9de3aee6b_2_8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9de3aee6b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d9de3aee6b_2_16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2d9de3aee6b_2_16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9de3aee6b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2d9de3aee6b_2_24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2d9de3aee6b_2_24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d9de3aee6b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2d9de3aee6b_2_32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2d9de3aee6b_2_32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d9de3aee6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d9de3aee6b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2d9de3aee6b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 present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6474" y="834498"/>
            <a:ext cx="12206308" cy="7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hyperlink" Target="https://microbiosee.github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inhuili-lab/MicrobioSee2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" descr="Saint Louis University"/>
          <p:cNvPicPr preferRelativeResize="0"/>
          <p:nvPr/>
        </p:nvPicPr>
        <p:blipFill rotWithShape="1">
          <a:blip r:embed="rId3">
            <a:alphaModFix amt="16000"/>
          </a:blip>
          <a:srcRect t="38370" b="14058"/>
          <a:stretch/>
        </p:blipFill>
        <p:spPr>
          <a:xfrm>
            <a:off x="0" y="1156029"/>
            <a:ext cx="12204948" cy="553941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85482" y="2149501"/>
            <a:ext cx="11466994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MicrobioSee v2.0, a desktop software for microbiome data visualization.</a:t>
            </a:r>
            <a:endParaRPr sz="4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114736" y="4455800"/>
            <a:ext cx="9510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Jinhui Li, </a:t>
            </a:r>
            <a:endParaRPr/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Kaarunya Nachimuthu, </a:t>
            </a:r>
            <a:endParaRPr/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Abdur Rahman Syed Ali</a:t>
            </a:r>
            <a:endParaRPr/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/2024</a:t>
            </a: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95440"/>
            <a:ext cx="12198474" cy="162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"/>
          <p:cNvGrpSpPr/>
          <p:nvPr/>
        </p:nvGrpSpPr>
        <p:grpSpPr>
          <a:xfrm>
            <a:off x="-6474" y="0"/>
            <a:ext cx="12198475" cy="1156031"/>
            <a:chOff x="-6474" y="0"/>
            <a:chExt cx="12198475" cy="1156031"/>
          </a:xfrm>
        </p:grpSpPr>
        <p:pic>
          <p:nvPicPr>
            <p:cNvPr id="95" name="Google Shape;95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6474" y="0"/>
              <a:ext cx="12198474" cy="1156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"/>
            <p:cNvSpPr txBox="1"/>
            <p:nvPr/>
          </p:nvSpPr>
          <p:spPr>
            <a:xfrm>
              <a:off x="5037101" y="162516"/>
              <a:ext cx="7154900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00"/>
                <a:buFont typeface="Arial"/>
                <a:buNone/>
              </a:pPr>
              <a:r>
                <a:rPr lang="en-US" sz="4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Saint Louis University</a:t>
              </a:r>
              <a:endParaRPr sz="4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l="13674" t="8510" r="21378" b="3498"/>
          <a:stretch/>
        </p:blipFill>
        <p:spPr>
          <a:xfrm>
            <a:off x="385482" y="0"/>
            <a:ext cx="863366" cy="1156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399346" y="124138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82983" y="1396471"/>
            <a:ext cx="1181874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/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&amp; Modules</a:t>
            </a:r>
            <a:endParaRPr/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tion of MicrobioSee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Discussion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240805" y="49424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01600" y="1539734"/>
            <a:ext cx="8839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bioinformatics engineer’s main work? 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27000" y="977815"/>
            <a:ext cx="8839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your career plan in the future? 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3" name="Google Shape;113;p3"/>
          <p:cNvGrpSpPr/>
          <p:nvPr/>
        </p:nvGrpSpPr>
        <p:grpSpPr>
          <a:xfrm>
            <a:off x="512742" y="2744140"/>
            <a:ext cx="11173033" cy="4064410"/>
            <a:chOff x="621496" y="2528645"/>
            <a:chExt cx="11173033" cy="4064410"/>
          </a:xfrm>
        </p:grpSpPr>
        <p:pic>
          <p:nvPicPr>
            <p:cNvPr id="114" name="Google Shape;114;p3"/>
            <p:cNvPicPr preferRelativeResize="0"/>
            <p:nvPr/>
          </p:nvPicPr>
          <p:blipFill rotWithShape="1">
            <a:blip r:embed="rId3">
              <a:alphaModFix amt="88000"/>
            </a:blip>
            <a:srcRect/>
            <a:stretch/>
          </p:blipFill>
          <p:spPr>
            <a:xfrm>
              <a:off x="811492" y="2908726"/>
              <a:ext cx="1824244" cy="18120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3"/>
            <p:cNvSpPr/>
            <p:nvPr/>
          </p:nvSpPr>
          <p:spPr>
            <a:xfrm>
              <a:off x="621496" y="5892002"/>
              <a:ext cx="10949008" cy="32288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10154129" y="6166455"/>
              <a:ext cx="164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2024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7" name="Google Shape;117;p3" descr="How Does Sanger Sequencing Work? - Behind the Bench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80854" y="4792871"/>
              <a:ext cx="1941633" cy="10873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3" descr="泛谈-分子诊断（第24期）： 第二代测序技术-Illumina测序_同花顺圈子"/>
            <p:cNvPicPr preferRelativeResize="0"/>
            <p:nvPr/>
          </p:nvPicPr>
          <p:blipFill rotWithShape="1">
            <a:blip r:embed="rId5">
              <a:alphaModFix/>
            </a:blip>
            <a:srcRect t="37324" b="28179"/>
            <a:stretch/>
          </p:blipFill>
          <p:spPr>
            <a:xfrm>
              <a:off x="3012610" y="2681424"/>
              <a:ext cx="2383602" cy="259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048062" y="4855514"/>
              <a:ext cx="5219638" cy="1101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3" descr="The Biological Classification of Paramecium – Name, History, and ...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86335" y="2688769"/>
              <a:ext cx="2398963" cy="23328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3"/>
            <p:cNvSpPr txBox="1"/>
            <p:nvPr/>
          </p:nvSpPr>
          <p:spPr>
            <a:xfrm>
              <a:off x="1626140" y="6223755"/>
              <a:ext cx="208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2001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" name="Google Shape;122;p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393115" y="4195475"/>
              <a:ext cx="2846386" cy="1604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3" descr="Fig. 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393116" y="2528645"/>
              <a:ext cx="2846385" cy="15746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3"/>
          <p:cNvSpPr txBox="1"/>
          <p:nvPr/>
        </p:nvSpPr>
        <p:spPr>
          <a:xfrm>
            <a:off x="101600" y="2220939"/>
            <a:ext cx="8839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bioinformatics are important?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5" name="Google Shape;125;p3"/>
          <p:cNvGrpSpPr/>
          <p:nvPr/>
        </p:nvGrpSpPr>
        <p:grpSpPr>
          <a:xfrm>
            <a:off x="7415664" y="1166729"/>
            <a:ext cx="5187987" cy="1631734"/>
            <a:chOff x="7415664" y="1568681"/>
            <a:chExt cx="5187987" cy="1251600"/>
          </a:xfrm>
        </p:grpSpPr>
        <p:sp>
          <p:nvSpPr>
            <p:cNvPr id="126" name="Google Shape;126;p3"/>
            <p:cNvSpPr txBox="1"/>
            <p:nvPr/>
          </p:nvSpPr>
          <p:spPr>
            <a:xfrm>
              <a:off x="7430751" y="1568681"/>
              <a:ext cx="5172900" cy="125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Construct analyze pipelines and run it.</a:t>
              </a:r>
              <a:endParaRPr/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Visualize the result.</a:t>
              </a:r>
              <a:endParaRPr/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the  algorithms of mapping and clustering.</a:t>
              </a:r>
              <a:endParaRPr/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Build the database for searchingmapping.</a:t>
              </a:r>
              <a:endParaRPr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415664" y="1609395"/>
              <a:ext cx="432300" cy="11238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/>
        </p:nvSpPr>
        <p:spPr>
          <a:xfrm>
            <a:off x="240805" y="49424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139200" y="1075350"/>
            <a:ext cx="11546400" cy="56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Microbiome plays an important role in personal life.</a:t>
            </a:r>
            <a:endParaRPr/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microbiologists can’t master code techniques, include coding for visualization, and</a:t>
            </a:r>
            <a:r>
              <a:rPr lang="en-US"/>
              <a:t>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developing a tool for visualization of microbiome data is very necessary.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interactive tools based on web technique that depend on the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network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have some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visit restriction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the security policy of management.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security.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Some scientists don’t want to upload their data in any website before publishing work, such as iDEP.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desktop tools existed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expensive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such as Origin and GraphPad Prism.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9687" y="2108670"/>
            <a:ext cx="1511875" cy="1391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"/>
          <p:cNvPicPr preferRelativeResize="0"/>
          <p:nvPr/>
        </p:nvPicPr>
        <p:blipFill rotWithShape="1">
          <a:blip r:embed="rId4">
            <a:alphaModFix/>
          </a:blip>
          <a:srcRect b="2425"/>
          <a:stretch/>
        </p:blipFill>
        <p:spPr>
          <a:xfrm>
            <a:off x="10173720" y="3750602"/>
            <a:ext cx="1743800" cy="911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240805" y="49424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MicrobioSee2 ( desktop version )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84033" y="1079640"/>
            <a:ext cx="88707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Microbio</a:t>
            </a: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See 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Microbiome + See</a:t>
            </a:r>
            <a:endParaRPr/>
          </a:p>
          <a:p>
            <a:pPr marL="457200" marR="0" lvl="0" indent="-228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459" y="4006775"/>
            <a:ext cx="7912901" cy="2566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 descr="图标&#10;&#10;描述已自动生成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47258" y="3829325"/>
            <a:ext cx="2230099" cy="223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9747248" y="6059425"/>
            <a:ext cx="244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MicrobioSee2 logo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5" descr="图标&#10;&#10;描述已自动生成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69086" y="1027449"/>
            <a:ext cx="1938351" cy="193835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9808171" y="3071183"/>
            <a:ext cx="22300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MicrobioSee logo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682459" y="1764815"/>
            <a:ext cx="80649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desktop version contain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visualization tools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a developer community in github.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Github: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https://github.com/jinhuili-lab/MicrobioSee2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Guide: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https://microbiosee.github.io/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/>
        </p:nvSpPr>
        <p:spPr>
          <a:xfrm>
            <a:off x="240805" y="49424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MicrobioSee2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6"/>
          <p:cNvPicPr preferRelativeResize="0"/>
          <p:nvPr/>
        </p:nvPicPr>
        <p:blipFill rotWithShape="1">
          <a:blip r:embed="rId3">
            <a:alphaModFix/>
          </a:blip>
          <a:srcRect l="3353" t="10984"/>
          <a:stretch/>
        </p:blipFill>
        <p:spPr>
          <a:xfrm>
            <a:off x="761999" y="979409"/>
            <a:ext cx="10923610" cy="181265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762000" y="2517944"/>
            <a:ext cx="110520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App: modules</a:t>
            </a:r>
            <a:endParaRPr/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Lib: some library file</a:t>
            </a:r>
            <a:endParaRPr/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Main: core program</a:t>
            </a:r>
            <a:endParaRPr/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Portable: dependence</a:t>
            </a:r>
            <a:endParaRPr/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Rbin: R packages</a:t>
            </a:r>
            <a:endParaRPr/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CleanCookie.vbs: Clean cookie</a:t>
            </a:r>
            <a:endParaRPr/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Logo.png: logo png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MicrobioSee2.exe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Executable program and entrance</a:t>
            </a:r>
            <a:endParaRPr/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runShinyApp.R: hook</a:t>
            </a:r>
            <a:endParaRPr/>
          </a:p>
          <a:p>
            <a:pPr marL="285750" marR="0" lvl="0" indent="-1333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333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6928" y="3326764"/>
            <a:ext cx="5064065" cy="243837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 txBox="1"/>
          <p:nvPr/>
        </p:nvSpPr>
        <p:spPr>
          <a:xfrm>
            <a:off x="4359975" y="2692669"/>
            <a:ext cx="1105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333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0000"/>
                </a:solidFill>
              </a:rPr>
              <a:t>Shiny + VBS + Chromecore + HTML = Desktop version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240805" y="49424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Comparative analysis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p8"/>
          <p:cNvGraphicFramePr/>
          <p:nvPr/>
        </p:nvGraphicFramePr>
        <p:xfrm>
          <a:off x="969456" y="181043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{70CB405C-9B28-49B0-ACC2-002ACD1C6292}</a:tableStyleId>
              </a:tblPr>
              <a:tblGrid>
                <a:gridCol w="249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Origin</a:t>
                      </a: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MicrobioSee v1.3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MicrobioSee v2.0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Without network </a:t>
                      </a:r>
                      <a:r>
                        <a:rPr lang="en-US" sz="1800" b="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dependence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√</a:t>
                      </a: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√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Responding speed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Faster</a:t>
                      </a: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depend on network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Faster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Free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None/>
                      </a:pPr>
                      <a:r>
                        <a:rPr lang="en-US" sz="1800"/>
                        <a:t>√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√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Interactive visualization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/>
                        <a:t>√</a:t>
                      </a: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√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√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/>
        </p:nvSpPr>
        <p:spPr>
          <a:xfrm>
            <a:off x="240805" y="49424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8" y="1168165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Alpha</a:t>
            </a:r>
            <a:endParaRPr/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75600"/>
            <a:ext cx="7205648" cy="385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/>
          <p:nvPr/>
        </p:nvSpPr>
        <p:spPr>
          <a:xfrm>
            <a:off x="7469450" y="1399025"/>
            <a:ext cx="4722600" cy="6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Uses: 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Visualizing species richness and diversity within samples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Assessing evenness and relative abundance of species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Identifying dominant or most abundant species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Comparing diversity patterns across samples/environments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/>
        </p:nvSpPr>
        <p:spPr>
          <a:xfrm>
            <a:off x="240805" y="49424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8" y="107904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Beta Diversity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7729150" y="1079050"/>
            <a:ext cx="4576500" cy="59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</a:rPr>
              <a:t>Uses: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Comparing microbial community compositions across samples/environments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Identifying environmental drivers shaping community structures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Assessing ecological processes influencing community assembly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Monitoring dynamics and responses to perturbations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00" y="1967099"/>
            <a:ext cx="7349200" cy="390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/>
        </p:nvSpPr>
        <p:spPr>
          <a:xfrm>
            <a:off x="240805" y="49424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8" y="113329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Box Plot</a:t>
            </a: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7365300" y="1453713"/>
            <a:ext cx="48267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Comparison of central tendencies and dispersion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Identification of statistically significant differences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Detection of outliers or anomalies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Exploration of patterns and hypothesis generation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pic>
        <p:nvPicPr>
          <p:cNvPr id="193" name="Google Shape;19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65725"/>
            <a:ext cx="7179476" cy="38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d9de3aee6b_1_8"/>
          <p:cNvSpPr txBox="1"/>
          <p:nvPr/>
        </p:nvSpPr>
        <p:spPr>
          <a:xfrm>
            <a:off x="240805" y="49424"/>
            <a:ext cx="114447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200" name="Google Shape;200;g2d9de3aee6b_1_8"/>
          <p:cNvSpPr txBox="1"/>
          <p:nvPr/>
        </p:nvSpPr>
        <p:spPr>
          <a:xfrm>
            <a:off x="8" y="113329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Bubble Chart</a:t>
            </a:r>
            <a:endParaRPr/>
          </a:p>
        </p:txBody>
      </p:sp>
      <p:sp>
        <p:nvSpPr>
          <p:cNvPr id="201" name="Google Shape;201;g2d9de3aee6b_1_8"/>
          <p:cNvSpPr txBox="1"/>
          <p:nvPr/>
        </p:nvSpPr>
        <p:spPr>
          <a:xfrm>
            <a:off x="7365300" y="1288074"/>
            <a:ext cx="4826700" cy="6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Uses;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Visualizing relative abundances of taxa across samples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Identifying dominant and rare taxa within communities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Comparing taxonomic compositions between different samples or conditions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pic>
        <p:nvPicPr>
          <p:cNvPr id="202" name="Google Shape;202;g2d9de3aee6b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32201"/>
            <a:ext cx="7303136" cy="387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9de3aee6b_1_18"/>
          <p:cNvSpPr txBox="1"/>
          <p:nvPr/>
        </p:nvSpPr>
        <p:spPr>
          <a:xfrm>
            <a:off x="240805" y="49424"/>
            <a:ext cx="114447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209" name="Google Shape;209;g2d9de3aee6b_1_18"/>
          <p:cNvSpPr txBox="1"/>
          <p:nvPr/>
        </p:nvSpPr>
        <p:spPr>
          <a:xfrm>
            <a:off x="8" y="113329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Heatmap</a:t>
            </a:r>
            <a:endParaRPr/>
          </a:p>
        </p:txBody>
      </p:sp>
      <p:sp>
        <p:nvSpPr>
          <p:cNvPr id="210" name="Google Shape;210;g2d9de3aee6b_1_18"/>
          <p:cNvSpPr txBox="1"/>
          <p:nvPr/>
        </p:nvSpPr>
        <p:spPr>
          <a:xfrm>
            <a:off x="7212900" y="1041774"/>
            <a:ext cx="4826700" cy="6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Uses:</a:t>
            </a:r>
            <a:endParaRPr sz="20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000">
                <a:solidFill>
                  <a:schemeClr val="dk1"/>
                </a:solidFill>
              </a:rPr>
              <a:t>Visualizing and comparing the abundance patterns of taxa across multiple samples</a:t>
            </a:r>
            <a:endParaRPr sz="20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000">
                <a:solidFill>
                  <a:schemeClr val="dk1"/>
                </a:solidFill>
              </a:rPr>
              <a:t>Identifying clustering patterns or similarities in community compositions</a:t>
            </a:r>
            <a:endParaRPr sz="20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000">
                <a:solidFill>
                  <a:schemeClr val="dk1"/>
                </a:solidFill>
              </a:rPr>
              <a:t>Exploring relationships between taxa and environmental/experimental variables</a:t>
            </a:r>
            <a:endParaRPr sz="20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000">
                <a:solidFill>
                  <a:schemeClr val="dk1"/>
                </a:solidFill>
              </a:rPr>
              <a:t>Detecting hotspots or areas of high or low abundance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  <p:pic>
        <p:nvPicPr>
          <p:cNvPr id="211" name="Google Shape;211;g2d9de3aee6b_1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32190"/>
            <a:ext cx="7060500" cy="3750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9de3aee6b_1_28"/>
          <p:cNvSpPr txBox="1"/>
          <p:nvPr/>
        </p:nvSpPr>
        <p:spPr>
          <a:xfrm>
            <a:off x="240805" y="49424"/>
            <a:ext cx="114447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218" name="Google Shape;218;g2d9de3aee6b_1_28"/>
          <p:cNvSpPr txBox="1"/>
          <p:nvPr/>
        </p:nvSpPr>
        <p:spPr>
          <a:xfrm>
            <a:off x="8" y="113329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Histogram</a:t>
            </a:r>
            <a:endParaRPr/>
          </a:p>
        </p:txBody>
      </p:sp>
      <p:sp>
        <p:nvSpPr>
          <p:cNvPr id="219" name="Google Shape;219;g2d9de3aee6b_1_28"/>
          <p:cNvSpPr txBox="1"/>
          <p:nvPr/>
        </p:nvSpPr>
        <p:spPr>
          <a:xfrm>
            <a:off x="7212900" y="976949"/>
            <a:ext cx="4826700" cy="59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Summarize metagenomic data distribution, aiding in understanding its characteristics.</a:t>
            </a:r>
            <a:endParaRPr sz="2000">
              <a:solidFill>
                <a:schemeClr val="dk1"/>
              </a:solidFill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Help to detect errors and contamination, ensuring data reliability.</a:t>
            </a:r>
            <a:endParaRPr sz="2000">
              <a:solidFill>
                <a:schemeClr val="dk1"/>
              </a:solidFill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Illustrate taxonomic abundance, revealing the composition and diversity of microbial communities.</a:t>
            </a:r>
            <a:endParaRPr sz="2000">
              <a:solidFill>
                <a:schemeClr val="dk1"/>
              </a:solidFill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Enable comparison of features across samples, highlighting differences or similarities in microbial communities.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20" name="Google Shape;220;g2d9de3aee6b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32190"/>
            <a:ext cx="7060500" cy="3750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 txBox="1"/>
          <p:nvPr/>
        </p:nvSpPr>
        <p:spPr>
          <a:xfrm>
            <a:off x="240805" y="49424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99158" y="106969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Pie chart</a:t>
            </a:r>
            <a:endParaRPr/>
          </a:p>
        </p:txBody>
      </p:sp>
      <p:pic>
        <p:nvPicPr>
          <p:cNvPr id="228" name="Google Shape;228;p13"/>
          <p:cNvPicPr preferRelativeResize="0"/>
          <p:nvPr/>
        </p:nvPicPr>
        <p:blipFill rotWithShape="1">
          <a:blip r:embed="rId3">
            <a:alphaModFix/>
          </a:blip>
          <a:srcRect l="347" r="337"/>
          <a:stretch/>
        </p:blipFill>
        <p:spPr>
          <a:xfrm>
            <a:off x="391425" y="2091242"/>
            <a:ext cx="7375853" cy="394942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3"/>
          <p:cNvSpPr txBox="1"/>
          <p:nvPr/>
        </p:nvSpPr>
        <p:spPr>
          <a:xfrm>
            <a:off x="7767275" y="1948400"/>
            <a:ext cx="39183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Uses:</a:t>
            </a:r>
            <a:endParaRPr sz="2400">
              <a:solidFill>
                <a:schemeClr val="dk1"/>
              </a:solidFill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Relative representation of taxonomic composition</a:t>
            </a:r>
            <a:endParaRPr sz="2400">
              <a:solidFill>
                <a:schemeClr val="dk1"/>
              </a:solidFill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Visualizing distribution of metabolic pathways</a:t>
            </a:r>
            <a:endParaRPr sz="2400">
              <a:solidFill>
                <a:schemeClr val="dk1"/>
              </a:solidFill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Identify spatial trends</a:t>
            </a:r>
            <a:endParaRPr sz="24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9de3aee6b_2_0"/>
          <p:cNvSpPr txBox="1"/>
          <p:nvPr/>
        </p:nvSpPr>
        <p:spPr>
          <a:xfrm>
            <a:off x="240805" y="49424"/>
            <a:ext cx="114447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236" name="Google Shape;236;g2d9de3aee6b_2_0"/>
          <p:cNvSpPr txBox="1"/>
          <p:nvPr/>
        </p:nvSpPr>
        <p:spPr>
          <a:xfrm>
            <a:off x="99158" y="106969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Scatter plot</a:t>
            </a:r>
            <a:endParaRPr/>
          </a:p>
        </p:txBody>
      </p:sp>
      <p:pic>
        <p:nvPicPr>
          <p:cNvPr id="237" name="Google Shape;237;g2d9de3aee6b_2_0"/>
          <p:cNvPicPr preferRelativeResize="0"/>
          <p:nvPr/>
        </p:nvPicPr>
        <p:blipFill rotWithShape="1">
          <a:blip r:embed="rId3">
            <a:alphaModFix/>
          </a:blip>
          <a:srcRect l="347" r="337"/>
          <a:stretch/>
        </p:blipFill>
        <p:spPr>
          <a:xfrm>
            <a:off x="391425" y="2091242"/>
            <a:ext cx="7375853" cy="394942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2d9de3aee6b_2_0"/>
          <p:cNvSpPr txBox="1"/>
          <p:nvPr/>
        </p:nvSpPr>
        <p:spPr>
          <a:xfrm>
            <a:off x="8032650" y="951200"/>
            <a:ext cx="4159200" cy="57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Uses:</a:t>
            </a:r>
            <a:endParaRPr sz="2300">
              <a:solidFill>
                <a:schemeClr val="dk1"/>
              </a:solidFill>
            </a:endParaRPr>
          </a:p>
          <a:p>
            <a:pPr marL="457200" marR="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Identifying evolutionary relationships between microbial communities.</a:t>
            </a:r>
            <a:endParaRPr sz="2300">
              <a:solidFill>
                <a:schemeClr val="dk1"/>
              </a:solidFill>
            </a:endParaRPr>
          </a:p>
          <a:p>
            <a:pPr marL="457200" marR="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Detect outliers by identifying unusual compositions.</a:t>
            </a:r>
            <a:endParaRPr sz="2300">
              <a:solidFill>
                <a:schemeClr val="dk1"/>
              </a:solidFill>
            </a:endParaRPr>
          </a:p>
          <a:p>
            <a:pPr marL="457200" marR="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Compare metagenomic profiles across different conditions</a:t>
            </a:r>
            <a:endParaRPr sz="2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d9de3aee6b_2_8"/>
          <p:cNvSpPr txBox="1"/>
          <p:nvPr/>
        </p:nvSpPr>
        <p:spPr>
          <a:xfrm>
            <a:off x="240805" y="49424"/>
            <a:ext cx="114447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245" name="Google Shape;245;g2d9de3aee6b_2_8"/>
          <p:cNvSpPr txBox="1"/>
          <p:nvPr/>
        </p:nvSpPr>
        <p:spPr>
          <a:xfrm>
            <a:off x="99158" y="106969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Stack</a:t>
            </a:r>
            <a:endParaRPr/>
          </a:p>
        </p:txBody>
      </p:sp>
      <p:pic>
        <p:nvPicPr>
          <p:cNvPr id="246" name="Google Shape;246;g2d9de3aee6b_2_8"/>
          <p:cNvPicPr preferRelativeResize="0"/>
          <p:nvPr/>
        </p:nvPicPr>
        <p:blipFill rotWithShape="1">
          <a:blip r:embed="rId3">
            <a:alphaModFix/>
          </a:blip>
          <a:srcRect l="347" r="337"/>
          <a:stretch/>
        </p:blipFill>
        <p:spPr>
          <a:xfrm>
            <a:off x="391425" y="2091242"/>
            <a:ext cx="7375853" cy="394942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2d9de3aee6b_2_8"/>
          <p:cNvSpPr txBox="1"/>
          <p:nvPr/>
        </p:nvSpPr>
        <p:spPr>
          <a:xfrm>
            <a:off x="8108400" y="2091250"/>
            <a:ext cx="40836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</a:rPr>
              <a:t>Uses:</a:t>
            </a:r>
            <a:endParaRPr sz="2200">
              <a:solidFill>
                <a:schemeClr val="dk1"/>
              </a:solidFill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Visualize the proportion of different microbes within a sample.</a:t>
            </a:r>
            <a:endParaRPr sz="2200">
              <a:solidFill>
                <a:schemeClr val="dk1"/>
              </a:solidFill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The layered representation helps to explore different patterns among complex hierarchies.</a:t>
            </a:r>
            <a:endParaRPr sz="22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9de3aee6b_2_16"/>
          <p:cNvSpPr txBox="1"/>
          <p:nvPr/>
        </p:nvSpPr>
        <p:spPr>
          <a:xfrm>
            <a:off x="240805" y="49424"/>
            <a:ext cx="114447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254" name="Google Shape;254;g2d9de3aee6b_2_16"/>
          <p:cNvSpPr txBox="1"/>
          <p:nvPr/>
        </p:nvSpPr>
        <p:spPr>
          <a:xfrm>
            <a:off x="99158" y="106969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Upset Plot</a:t>
            </a:r>
            <a:endParaRPr/>
          </a:p>
        </p:txBody>
      </p:sp>
      <p:pic>
        <p:nvPicPr>
          <p:cNvPr id="255" name="Google Shape;255;g2d9de3aee6b_2_16"/>
          <p:cNvPicPr preferRelativeResize="0"/>
          <p:nvPr/>
        </p:nvPicPr>
        <p:blipFill rotWithShape="1">
          <a:blip r:embed="rId3">
            <a:alphaModFix/>
          </a:blip>
          <a:srcRect l="347" r="337"/>
          <a:stretch/>
        </p:blipFill>
        <p:spPr>
          <a:xfrm>
            <a:off x="391425" y="2091242"/>
            <a:ext cx="7375853" cy="394942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2d9de3aee6b_2_16"/>
          <p:cNvSpPr txBox="1"/>
          <p:nvPr/>
        </p:nvSpPr>
        <p:spPr>
          <a:xfrm>
            <a:off x="8243050" y="948963"/>
            <a:ext cx="3601200" cy="6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</a:rPr>
              <a:t>Uses:</a:t>
            </a:r>
            <a:endParaRPr sz="2100">
              <a:solidFill>
                <a:schemeClr val="dk1"/>
              </a:solidFill>
            </a:endParaRPr>
          </a:p>
          <a:p>
            <a:pPr marL="457200" marR="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Better at visualizing complex and bigger datasets in comparison with traditional plotting methods</a:t>
            </a:r>
            <a:endParaRPr sz="2100">
              <a:solidFill>
                <a:schemeClr val="dk1"/>
              </a:solidFill>
            </a:endParaRPr>
          </a:p>
          <a:p>
            <a:pPr marL="457200" marR="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Represent different organisms detached at variable conditions.</a:t>
            </a:r>
            <a:endParaRPr sz="2100">
              <a:solidFill>
                <a:schemeClr val="dk1"/>
              </a:solidFill>
            </a:endParaRPr>
          </a:p>
          <a:p>
            <a:pPr marL="457200" marR="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Represent relative abundance of microbial communities.</a:t>
            </a:r>
            <a:endParaRPr sz="21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d9de3aee6b_2_24"/>
          <p:cNvSpPr txBox="1"/>
          <p:nvPr/>
        </p:nvSpPr>
        <p:spPr>
          <a:xfrm>
            <a:off x="240805" y="49424"/>
            <a:ext cx="114447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263" name="Google Shape;263;g2d9de3aee6b_2_24"/>
          <p:cNvSpPr txBox="1"/>
          <p:nvPr/>
        </p:nvSpPr>
        <p:spPr>
          <a:xfrm>
            <a:off x="99158" y="106969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Venn</a:t>
            </a:r>
            <a:endParaRPr/>
          </a:p>
        </p:txBody>
      </p:sp>
      <p:pic>
        <p:nvPicPr>
          <p:cNvPr id="264" name="Google Shape;264;g2d9de3aee6b_2_24"/>
          <p:cNvPicPr preferRelativeResize="0"/>
          <p:nvPr/>
        </p:nvPicPr>
        <p:blipFill rotWithShape="1">
          <a:blip r:embed="rId3">
            <a:alphaModFix/>
          </a:blip>
          <a:srcRect l="347" r="337"/>
          <a:stretch/>
        </p:blipFill>
        <p:spPr>
          <a:xfrm>
            <a:off x="391425" y="2091250"/>
            <a:ext cx="7127323" cy="39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2d9de3aee6b_2_24"/>
          <p:cNvSpPr txBox="1"/>
          <p:nvPr/>
        </p:nvSpPr>
        <p:spPr>
          <a:xfrm>
            <a:off x="7843800" y="1155550"/>
            <a:ext cx="4348200" cy="55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</a:rPr>
              <a:t>Uses:</a:t>
            </a:r>
            <a:endParaRPr sz="2200">
              <a:solidFill>
                <a:schemeClr val="dk1"/>
              </a:solidFill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Often used to compare genetic material across different species.</a:t>
            </a:r>
            <a:endParaRPr sz="2200">
              <a:solidFill>
                <a:schemeClr val="dk1"/>
              </a:solidFill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Provide quantitative information about the number of shared and unique features.</a:t>
            </a:r>
            <a:endParaRPr sz="2200">
              <a:solidFill>
                <a:schemeClr val="dk1"/>
              </a:solidFill>
            </a:endParaRPr>
          </a:p>
          <a:p>
            <a:pPr marL="4572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Illustrate overlaps among microbial communities.</a:t>
            </a:r>
            <a:endParaRPr sz="22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d9de3aee6b_2_32"/>
          <p:cNvSpPr txBox="1"/>
          <p:nvPr/>
        </p:nvSpPr>
        <p:spPr>
          <a:xfrm>
            <a:off x="240805" y="49424"/>
            <a:ext cx="114447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</p:txBody>
      </p:sp>
      <p:sp>
        <p:nvSpPr>
          <p:cNvPr id="272" name="Google Shape;272;g2d9de3aee6b_2_32"/>
          <p:cNvSpPr txBox="1"/>
          <p:nvPr/>
        </p:nvSpPr>
        <p:spPr>
          <a:xfrm>
            <a:off x="99158" y="1069690"/>
            <a:ext cx="887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Volcano Plot</a:t>
            </a:r>
            <a:endParaRPr/>
          </a:p>
        </p:txBody>
      </p:sp>
      <p:pic>
        <p:nvPicPr>
          <p:cNvPr id="273" name="Google Shape;273;g2d9de3aee6b_2_32"/>
          <p:cNvPicPr preferRelativeResize="0"/>
          <p:nvPr/>
        </p:nvPicPr>
        <p:blipFill rotWithShape="1">
          <a:blip r:embed="rId3">
            <a:alphaModFix/>
          </a:blip>
          <a:srcRect l="347" r="337"/>
          <a:stretch/>
        </p:blipFill>
        <p:spPr>
          <a:xfrm>
            <a:off x="99150" y="2118105"/>
            <a:ext cx="7375853" cy="394942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2d9de3aee6b_2_32"/>
          <p:cNvSpPr txBox="1"/>
          <p:nvPr/>
        </p:nvSpPr>
        <p:spPr>
          <a:xfrm>
            <a:off x="7564400" y="948975"/>
            <a:ext cx="4627500" cy="6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Aid in generating hypothesis regarding the roles of  microbes in different conditions.</a:t>
            </a:r>
            <a:endParaRPr sz="2300">
              <a:solidFill>
                <a:schemeClr val="dk1"/>
              </a:solidFill>
            </a:endParaRPr>
          </a:p>
          <a:p>
            <a:pPr marL="457200" marR="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Represent the magnitude of change and statistically significant differences among different observed samples.</a:t>
            </a:r>
            <a:endParaRPr sz="2300">
              <a:solidFill>
                <a:schemeClr val="dk1"/>
              </a:solidFill>
            </a:endParaRPr>
          </a:p>
          <a:p>
            <a:pPr marL="457200" marR="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Identify the activity or abundance of different microbes in a sample.</a:t>
            </a:r>
            <a:endParaRPr sz="23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9de3aee6b_0_1"/>
          <p:cNvSpPr txBox="1"/>
          <p:nvPr/>
        </p:nvSpPr>
        <p:spPr>
          <a:xfrm>
            <a:off x="0" y="-265176"/>
            <a:ext cx="30000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</a:rPr>
              <a:t>Discussion</a:t>
            </a:r>
            <a:endParaRPr sz="4000" dirty="0"/>
          </a:p>
        </p:txBody>
      </p:sp>
      <p:sp>
        <p:nvSpPr>
          <p:cNvPr id="281" name="Google Shape;281;g2d9de3aee6b_0_1"/>
          <p:cNvSpPr txBox="1"/>
          <p:nvPr/>
        </p:nvSpPr>
        <p:spPr>
          <a:xfrm>
            <a:off x="0" y="856500"/>
            <a:ext cx="12288600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0000"/>
                </a:solidFill>
              </a:rPr>
              <a:t>Challenges:</a:t>
            </a:r>
            <a:endParaRPr sz="2200" dirty="0">
              <a:solidFill>
                <a:srgbClr val="FF0000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Install target package </a:t>
            </a:r>
            <a:r>
              <a:rPr lang="en-US" sz="2200" dirty="0">
                <a:solidFill>
                  <a:srgbClr val="FF0000"/>
                </a:solidFill>
              </a:rPr>
              <a:t>versions and </a:t>
            </a:r>
            <a:r>
              <a:rPr lang="en-US" sz="2200" dirty="0">
                <a:solidFill>
                  <a:schemeClr val="dk1"/>
                </a:solidFill>
              </a:rPr>
              <a:t>all their required</a:t>
            </a:r>
            <a:r>
              <a:rPr lang="en-US" sz="2200" dirty="0">
                <a:solidFill>
                  <a:srgbClr val="FF0000"/>
                </a:solidFill>
              </a:rPr>
              <a:t> complex dependencies</a:t>
            </a:r>
            <a:r>
              <a:rPr lang="en-US" sz="2200" dirty="0">
                <a:solidFill>
                  <a:schemeClr val="dk1"/>
                </a:solidFill>
              </a:rPr>
              <a:t> and with many errors. </a:t>
            </a:r>
            <a:endParaRPr sz="2200" dirty="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Testing until the app gets adapted to the reactiveness cause by usage of Shiny.</a:t>
            </a:r>
            <a:endParaRPr sz="2200" dirty="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</a:rPr>
              <a:t>Construct without network-independent. Run a shiny in Windows OS based on VBS code.  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0000"/>
                </a:solidFill>
              </a:rPr>
              <a:t>Future: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</a:rPr>
              <a:t>More functions can be added in MicrobioSee2, such as</a:t>
            </a:r>
            <a:r>
              <a:rPr lang="en-US" sz="2200" dirty="0">
                <a:solidFill>
                  <a:srgbClr val="FF0000"/>
                </a:solidFill>
              </a:rPr>
              <a:t> building Machine Learning model and visualizing the ROC. </a:t>
            </a:r>
            <a:endParaRPr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 txBox="1"/>
          <p:nvPr/>
        </p:nvSpPr>
        <p:spPr>
          <a:xfrm>
            <a:off x="240805" y="49424"/>
            <a:ext cx="11444804" cy="7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MicrobioSee v2</a:t>
            </a:r>
            <a:endParaRPr/>
          </a:p>
        </p:txBody>
      </p:sp>
      <p:sp>
        <p:nvSpPr>
          <p:cNvPr id="288" name="Google Shape;288;p14"/>
          <p:cNvSpPr txBox="1"/>
          <p:nvPr/>
        </p:nvSpPr>
        <p:spPr>
          <a:xfrm>
            <a:off x="2309688" y="1816274"/>
            <a:ext cx="8613008" cy="557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use MicrobioSee v2 ?</a:t>
            </a:r>
            <a:endParaRPr/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Installation</a:t>
            </a:r>
            <a:endParaRPr/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Usage Guide</a:t>
            </a:r>
            <a:endParaRPr/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Bug Feedback</a:t>
            </a:r>
            <a:endParaRPr/>
          </a:p>
          <a:p>
            <a:pPr marL="742950" marR="0" lvl="0" indent="-590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Microsoft Office PowerPoint</Application>
  <PresentationFormat>Widescreen</PresentationFormat>
  <Paragraphs>180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Jinhui Li</dc:creator>
  <cp:lastModifiedBy>Jinhui Li</cp:lastModifiedBy>
  <cp:revision>1</cp:revision>
  <dcterms:created xsi:type="dcterms:W3CDTF">2024-04-06T05:53:27Z</dcterms:created>
  <dcterms:modified xsi:type="dcterms:W3CDTF">2024-05-07T17:05:37Z</dcterms:modified>
</cp:coreProperties>
</file>